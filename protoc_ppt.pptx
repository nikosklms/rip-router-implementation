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DD1246-18A6-49C5-A29F-0CC9296C1F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3F5D59-0C26-4DE6-B827-75871143EC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162B0B3-8533-473E-9189-04A8B290F9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36319DF-ED40-4000-AAF5-BE9F9B3F08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6D21D3E-4EAE-41A4-AF13-9AB6564483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FD8DAAB-C83C-4A62-82D5-D68E516B39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26494BC-AC46-4E02-854E-C9593830D1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57146B2-F517-4D3B-92EA-1326C4A22A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C1CD5ED-0A76-4B89-AD73-70F998E2B0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E9D6538-9A02-4A43-A4E1-A76FB2D2B9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49E7755-97F4-437B-AD9D-946CE00A4F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EB0FB4-2756-4048-9DDD-367A35D861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3E4C41-6137-4050-9C73-EFF1BC30B3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8A596C-95F3-46E1-A34B-C75E8FE2A0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19BD3A-930B-4367-9EF6-ADF63C831FD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A15ABB-57C6-4BB4-B62E-05C147A8821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2752BC-D5B1-43EB-A8A7-00C2A7AF34E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2C6B6F-8454-4DF0-ACF3-0AD59D5CEE3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6698AF-B589-498B-9547-0407FA2A0AC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1DA7E7-F681-4A60-8475-8D006C94AE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110FC9-504F-47E1-A0A1-4F0CC5BA424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E3DF7F-7C60-45DB-836A-4E6526C5B3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523880" y="0"/>
            <a:ext cx="9143640" cy="13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0485" lnSpcReduction="10000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Using Google Protocol Buffers for developing a RIP-like routing protocol – ECE441</a:t>
            </a:r>
            <a:endParaRPr b="0" lang="en-US" sz="3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0" y="6163200"/>
            <a:ext cx="4900680" cy="6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VASILEIOS GRAPSOPOULOS 03791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NIKOLAOS KALAMARIS 03768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Liveness check</a:t>
            </a:r>
            <a:endParaRPr b="0" lang="en-US" sz="3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0" y="1463040"/>
            <a:ext cx="112377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Router spawns 2 threads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handle_connection() for initializing neighbors info and listens for ‘HELLO’ messages (actually this thread spawns for every new tcp conn)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Send_periodic_hellos() which periodically sends ‘HELLO’ to neighbors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val 1"/>
          <p:cNvSpPr/>
          <p:nvPr/>
        </p:nvSpPr>
        <p:spPr>
          <a:xfrm>
            <a:off x="101484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Oval 2"/>
          <p:cNvSpPr/>
          <p:nvPr/>
        </p:nvSpPr>
        <p:spPr>
          <a:xfrm>
            <a:off x="819900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Oval 3"/>
          <p:cNvSpPr/>
          <p:nvPr/>
        </p:nvSpPr>
        <p:spPr>
          <a:xfrm>
            <a:off x="4569120" y="478836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Liveness check - init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188964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5498640" y="441900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907380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1" name="Straight Arrow Connector 10"/>
          <p:cNvCxnSpPr>
            <a:stCxn id="73" idx="5"/>
            <a:endCxn id="75" idx="1"/>
          </p:cNvCxnSpPr>
          <p:nvPr/>
        </p:nvCxnSpPr>
        <p:spPr>
          <a:xfrm>
            <a:off x="2809800" y="3270960"/>
            <a:ext cx="2067480" cy="167544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82" name="Straight Arrow Connector 11"/>
          <p:cNvCxnSpPr>
            <a:stCxn id="73" idx="7"/>
            <a:endCxn id="74" idx="1"/>
          </p:cNvCxnSpPr>
          <p:nvPr/>
        </p:nvCxnSpPr>
        <p:spPr>
          <a:xfrm>
            <a:off x="2809800" y="2507760"/>
            <a:ext cx="56973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83" name="Straight Arrow Connector 15"/>
          <p:cNvCxnSpPr>
            <a:stCxn id="74" idx="2"/>
            <a:endCxn id="73" idx="6"/>
          </p:cNvCxnSpPr>
          <p:nvPr/>
        </p:nvCxnSpPr>
        <p:spPr>
          <a:xfrm flipH="1">
            <a:off x="3117600" y="2889360"/>
            <a:ext cx="50817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84" name="Straight Arrow Connector 18"/>
          <p:cNvCxnSpPr>
            <a:stCxn id="74" idx="4"/>
            <a:endCxn id="75" idx="6"/>
          </p:cNvCxnSpPr>
          <p:nvPr/>
        </p:nvCxnSpPr>
        <p:spPr>
          <a:xfrm flipH="1">
            <a:off x="6671880" y="3428640"/>
            <a:ext cx="2579040" cy="1899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85" name="Straight Arrow Connector 21"/>
          <p:cNvCxnSpPr>
            <a:stCxn id="75" idx="7"/>
            <a:endCxn id="74" idx="3"/>
          </p:cNvCxnSpPr>
          <p:nvPr/>
        </p:nvCxnSpPr>
        <p:spPr>
          <a:xfrm flipV="1">
            <a:off x="6364080" y="3270960"/>
            <a:ext cx="2143080" cy="167544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86" name="Straight Arrow Connector 24"/>
          <p:cNvCxnSpPr>
            <a:stCxn id="75" idx="2"/>
            <a:endCxn id="73" idx="4"/>
          </p:cNvCxnSpPr>
          <p:nvPr/>
        </p:nvCxnSpPr>
        <p:spPr>
          <a:xfrm flipH="1" flipV="1">
            <a:off x="2066400" y="3428640"/>
            <a:ext cx="2503080" cy="1899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87" name="TextBox 30"/>
          <p:cNvSpPr/>
          <p:nvPr/>
        </p:nvSpPr>
        <p:spPr>
          <a:xfrm>
            <a:off x="4876920" y="2195280"/>
            <a:ext cx="210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UDP_INFO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31"/>
          <p:cNvSpPr/>
          <p:nvPr/>
        </p:nvSpPr>
        <p:spPr>
          <a:xfrm>
            <a:off x="2187000" y="4257720"/>
            <a:ext cx="210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UDP_INFO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32"/>
          <p:cNvSpPr/>
          <p:nvPr/>
        </p:nvSpPr>
        <p:spPr>
          <a:xfrm>
            <a:off x="3825360" y="3654360"/>
            <a:ext cx="210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UDP_INFO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33"/>
          <p:cNvSpPr/>
          <p:nvPr/>
        </p:nvSpPr>
        <p:spPr>
          <a:xfrm>
            <a:off x="6364080" y="3623760"/>
            <a:ext cx="210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UDP_INFO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4"/>
          <p:cNvSpPr/>
          <p:nvPr/>
        </p:nvSpPr>
        <p:spPr>
          <a:xfrm>
            <a:off x="7770960" y="4453560"/>
            <a:ext cx="210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UDP_INFO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35"/>
          <p:cNvSpPr/>
          <p:nvPr/>
        </p:nvSpPr>
        <p:spPr>
          <a:xfrm>
            <a:off x="271440" y="3623760"/>
            <a:ext cx="204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Active_neighbors{}:</a:t>
            </a:r>
            <a:br>
              <a:rPr sz="1800"/>
            </a:b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(r2,r3)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36"/>
          <p:cNvSpPr/>
          <p:nvPr/>
        </p:nvSpPr>
        <p:spPr>
          <a:xfrm>
            <a:off x="4689360" y="5928120"/>
            <a:ext cx="204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Active_neighbors{}:</a:t>
            </a:r>
            <a:br>
              <a:rPr sz="1800"/>
            </a:b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(r1,r3)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37"/>
          <p:cNvSpPr/>
          <p:nvPr/>
        </p:nvSpPr>
        <p:spPr>
          <a:xfrm>
            <a:off x="10251360" y="3404520"/>
            <a:ext cx="2047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Active_neighbors{}:</a:t>
            </a:r>
            <a:br>
              <a:rPr sz="1800"/>
            </a:b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(r2,r1)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val 1"/>
          <p:cNvSpPr/>
          <p:nvPr/>
        </p:nvSpPr>
        <p:spPr>
          <a:xfrm>
            <a:off x="101484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Oval 2"/>
          <p:cNvSpPr/>
          <p:nvPr/>
        </p:nvSpPr>
        <p:spPr>
          <a:xfrm>
            <a:off x="819900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Oval 3"/>
          <p:cNvSpPr/>
          <p:nvPr/>
        </p:nvSpPr>
        <p:spPr>
          <a:xfrm>
            <a:off x="4569120" y="478836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Liveness check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188964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5498640" y="441900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907380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8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Oval 1"/>
          <p:cNvSpPr/>
          <p:nvPr/>
        </p:nvSpPr>
        <p:spPr>
          <a:xfrm>
            <a:off x="101484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Oval 2"/>
          <p:cNvSpPr/>
          <p:nvPr/>
        </p:nvSpPr>
        <p:spPr>
          <a:xfrm>
            <a:off x="819900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Oval 3"/>
          <p:cNvSpPr/>
          <p:nvPr/>
        </p:nvSpPr>
        <p:spPr>
          <a:xfrm>
            <a:off x="4569120" y="478836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Liveness check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188964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6"/>
          <p:cNvSpPr/>
          <p:nvPr/>
        </p:nvSpPr>
        <p:spPr>
          <a:xfrm>
            <a:off x="5498640" y="441900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7"/>
          <p:cNvSpPr/>
          <p:nvPr/>
        </p:nvSpPr>
        <p:spPr>
          <a:xfrm>
            <a:off x="907380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8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1" name="Straight Arrow Connector 10"/>
          <p:cNvCxnSpPr>
            <a:stCxn id="103" idx="6"/>
            <a:endCxn id="104" idx="2"/>
          </p:cNvCxnSpPr>
          <p:nvPr/>
        </p:nvCxnSpPr>
        <p:spPr>
          <a:xfrm>
            <a:off x="3117600" y="2889360"/>
            <a:ext cx="50817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12" name="Straight Arrow Connector 12"/>
          <p:cNvCxnSpPr>
            <a:stCxn id="103" idx="3"/>
            <a:endCxn id="105" idx="2"/>
          </p:cNvCxnSpPr>
          <p:nvPr/>
        </p:nvCxnSpPr>
        <p:spPr>
          <a:xfrm>
            <a:off x="1322640" y="3270960"/>
            <a:ext cx="3246840" cy="205704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13" name="Straight Arrow Connector 14"/>
          <p:cNvCxnSpPr>
            <a:stCxn id="104" idx="3"/>
            <a:endCxn id="103" idx="5"/>
          </p:cNvCxnSpPr>
          <p:nvPr/>
        </p:nvCxnSpPr>
        <p:spPr>
          <a:xfrm flipH="1">
            <a:off x="2809800" y="3270960"/>
            <a:ext cx="56973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14" name="Straight Arrow Connector 16"/>
          <p:cNvCxnSpPr>
            <a:stCxn id="104" idx="5"/>
            <a:endCxn id="105" idx="6"/>
          </p:cNvCxnSpPr>
          <p:nvPr/>
        </p:nvCxnSpPr>
        <p:spPr>
          <a:xfrm flipH="1">
            <a:off x="6671880" y="3270960"/>
            <a:ext cx="3322440" cy="205704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15" name="Straight Arrow Connector 19"/>
          <p:cNvCxnSpPr>
            <a:stCxn id="105" idx="7"/>
            <a:endCxn id="104" idx="4"/>
          </p:cNvCxnSpPr>
          <p:nvPr/>
        </p:nvCxnSpPr>
        <p:spPr>
          <a:xfrm flipV="1">
            <a:off x="6364080" y="3428640"/>
            <a:ext cx="2886840" cy="15177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16" name="Straight Arrow Connector 21"/>
          <p:cNvCxnSpPr>
            <a:stCxn id="105" idx="1"/>
            <a:endCxn id="103" idx="4"/>
          </p:cNvCxnSpPr>
          <p:nvPr/>
        </p:nvCxnSpPr>
        <p:spPr>
          <a:xfrm flipH="1" flipV="1">
            <a:off x="2066400" y="3428640"/>
            <a:ext cx="2810880" cy="15177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17" name="TextBox 24"/>
          <p:cNvSpPr/>
          <p:nvPr/>
        </p:nvSpPr>
        <p:spPr>
          <a:xfrm>
            <a:off x="5214960" y="2550600"/>
            <a:ext cx="135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‘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HELLO’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25"/>
          <p:cNvSpPr/>
          <p:nvPr/>
        </p:nvSpPr>
        <p:spPr>
          <a:xfrm>
            <a:off x="5222880" y="3270960"/>
            <a:ext cx="135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‘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HELLO’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26"/>
          <p:cNvSpPr/>
          <p:nvPr/>
        </p:nvSpPr>
        <p:spPr>
          <a:xfrm>
            <a:off x="2340720" y="4490640"/>
            <a:ext cx="135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‘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HELLO’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27"/>
          <p:cNvSpPr/>
          <p:nvPr/>
        </p:nvSpPr>
        <p:spPr>
          <a:xfrm>
            <a:off x="3427560" y="3867480"/>
            <a:ext cx="135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‘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HELLO’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28"/>
          <p:cNvSpPr/>
          <p:nvPr/>
        </p:nvSpPr>
        <p:spPr>
          <a:xfrm>
            <a:off x="8014680" y="4455720"/>
            <a:ext cx="135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‘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HELLO’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29"/>
          <p:cNvSpPr/>
          <p:nvPr/>
        </p:nvSpPr>
        <p:spPr>
          <a:xfrm>
            <a:off x="6839640" y="3951360"/>
            <a:ext cx="135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‘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HELLO’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Oval 1"/>
          <p:cNvSpPr/>
          <p:nvPr/>
        </p:nvSpPr>
        <p:spPr>
          <a:xfrm>
            <a:off x="101484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Oval 2"/>
          <p:cNvSpPr/>
          <p:nvPr/>
        </p:nvSpPr>
        <p:spPr>
          <a:xfrm>
            <a:off x="819900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Oval 3"/>
          <p:cNvSpPr/>
          <p:nvPr/>
        </p:nvSpPr>
        <p:spPr>
          <a:xfrm>
            <a:off x="4569120" y="478836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Liveness check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5"/>
          <p:cNvSpPr/>
          <p:nvPr/>
        </p:nvSpPr>
        <p:spPr>
          <a:xfrm>
            <a:off x="188964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5498640" y="441900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907380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8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9"/>
          <p:cNvSpPr/>
          <p:nvPr/>
        </p:nvSpPr>
        <p:spPr>
          <a:xfrm>
            <a:off x="838080" y="3613680"/>
            <a:ext cx="2422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9965520" y="3191760"/>
            <a:ext cx="2422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11"/>
          <p:cNvSpPr/>
          <p:nvPr/>
        </p:nvSpPr>
        <p:spPr>
          <a:xfrm>
            <a:off x="6672240" y="5171040"/>
            <a:ext cx="2422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Oval 1"/>
          <p:cNvSpPr/>
          <p:nvPr/>
        </p:nvSpPr>
        <p:spPr>
          <a:xfrm>
            <a:off x="101484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Oval 2"/>
          <p:cNvSpPr/>
          <p:nvPr/>
        </p:nvSpPr>
        <p:spPr>
          <a:xfrm>
            <a:off x="819900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Oval 3"/>
          <p:cNvSpPr/>
          <p:nvPr/>
        </p:nvSpPr>
        <p:spPr>
          <a:xfrm>
            <a:off x="4569120" y="478836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Liveness check - Fault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188964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6"/>
          <p:cNvSpPr/>
          <p:nvPr/>
        </p:nvSpPr>
        <p:spPr>
          <a:xfrm>
            <a:off x="5498640" y="441900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7"/>
          <p:cNvSpPr/>
          <p:nvPr/>
        </p:nvSpPr>
        <p:spPr>
          <a:xfrm>
            <a:off x="907380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8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T=9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9"/>
          <p:cNvSpPr/>
          <p:nvPr/>
        </p:nvSpPr>
        <p:spPr>
          <a:xfrm>
            <a:off x="838080" y="3613680"/>
            <a:ext cx="2422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6672240" y="5171040"/>
            <a:ext cx="2422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Lightning Bolt 11"/>
          <p:cNvSpPr/>
          <p:nvPr/>
        </p:nvSpPr>
        <p:spPr>
          <a:xfrm>
            <a:off x="4593240" y="4268160"/>
            <a:ext cx="575640" cy="636840"/>
          </a:xfrm>
          <a:prstGeom prst="lightningBol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12"/>
          <p:cNvSpPr/>
          <p:nvPr/>
        </p:nvSpPr>
        <p:spPr>
          <a:xfrm>
            <a:off x="9965520" y="3191760"/>
            <a:ext cx="2422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Multiplication Sign 13"/>
          <p:cNvSpPr/>
          <p:nvPr/>
        </p:nvSpPr>
        <p:spPr>
          <a:xfrm>
            <a:off x="4920840" y="4788360"/>
            <a:ext cx="1398600" cy="107856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val 1"/>
          <p:cNvSpPr/>
          <p:nvPr/>
        </p:nvSpPr>
        <p:spPr>
          <a:xfrm>
            <a:off x="101484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Oval 2"/>
          <p:cNvSpPr/>
          <p:nvPr/>
        </p:nvSpPr>
        <p:spPr>
          <a:xfrm>
            <a:off x="819900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Liveness check - Fault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188964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6"/>
          <p:cNvSpPr/>
          <p:nvPr/>
        </p:nvSpPr>
        <p:spPr>
          <a:xfrm>
            <a:off x="907380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8"/>
          <p:cNvSpPr/>
          <p:nvPr/>
        </p:nvSpPr>
        <p:spPr>
          <a:xfrm>
            <a:off x="838080" y="3613680"/>
            <a:ext cx="2422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R3: last_hello = 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10"/>
          <p:cNvSpPr/>
          <p:nvPr/>
        </p:nvSpPr>
        <p:spPr>
          <a:xfrm>
            <a:off x="9965520" y="3191760"/>
            <a:ext cx="2422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R1: last_hello = 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5" name="Straight Arrow Connector 12"/>
          <p:cNvCxnSpPr>
            <a:stCxn id="147" idx="7"/>
            <a:endCxn id="148" idx="1"/>
          </p:cNvCxnSpPr>
          <p:nvPr/>
        </p:nvCxnSpPr>
        <p:spPr>
          <a:xfrm>
            <a:off x="2809800" y="2507760"/>
            <a:ext cx="56973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56" name="Straight Arrow Connector 14"/>
          <p:cNvCxnSpPr>
            <a:stCxn id="148" idx="2"/>
            <a:endCxn id="147" idx="6"/>
          </p:cNvCxnSpPr>
          <p:nvPr/>
        </p:nvCxnSpPr>
        <p:spPr>
          <a:xfrm flipH="1">
            <a:off x="3117600" y="2889360"/>
            <a:ext cx="50817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57" name="TextBox 15"/>
          <p:cNvSpPr/>
          <p:nvPr/>
        </p:nvSpPr>
        <p:spPr>
          <a:xfrm>
            <a:off x="5214960" y="2195280"/>
            <a:ext cx="135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‘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HELLO’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16"/>
          <p:cNvSpPr/>
          <p:nvPr/>
        </p:nvSpPr>
        <p:spPr>
          <a:xfrm>
            <a:off x="5214960" y="2962440"/>
            <a:ext cx="135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‘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HELLO’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Oval 1"/>
          <p:cNvSpPr/>
          <p:nvPr/>
        </p:nvSpPr>
        <p:spPr>
          <a:xfrm>
            <a:off x="101484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Oval 2"/>
          <p:cNvSpPr/>
          <p:nvPr/>
        </p:nvSpPr>
        <p:spPr>
          <a:xfrm>
            <a:off x="819900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Liveness check – Garbage Collection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4"/>
          <p:cNvSpPr/>
          <p:nvPr/>
        </p:nvSpPr>
        <p:spPr>
          <a:xfrm>
            <a:off x="188964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5"/>
          <p:cNvSpPr/>
          <p:nvPr/>
        </p:nvSpPr>
        <p:spPr>
          <a:xfrm>
            <a:off x="907380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6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T=21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7"/>
          <p:cNvSpPr/>
          <p:nvPr/>
        </p:nvSpPr>
        <p:spPr>
          <a:xfrm>
            <a:off x="838080" y="3613680"/>
            <a:ext cx="2422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R3: last_hello = 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8"/>
          <p:cNvSpPr/>
          <p:nvPr/>
        </p:nvSpPr>
        <p:spPr>
          <a:xfrm>
            <a:off x="9965520" y="3191760"/>
            <a:ext cx="2422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R2: last_hello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R1: last_hello = 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7" name="Straight Arrow Connector 9"/>
          <p:cNvCxnSpPr>
            <a:stCxn id="159" idx="7"/>
            <a:endCxn id="160" idx="1"/>
          </p:cNvCxnSpPr>
          <p:nvPr/>
        </p:nvCxnSpPr>
        <p:spPr>
          <a:xfrm>
            <a:off x="2809800" y="2507760"/>
            <a:ext cx="56973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68" name="Straight Arrow Connector 10"/>
          <p:cNvCxnSpPr>
            <a:stCxn id="160" idx="2"/>
            <a:endCxn id="159" idx="6"/>
          </p:cNvCxnSpPr>
          <p:nvPr/>
        </p:nvCxnSpPr>
        <p:spPr>
          <a:xfrm flipH="1">
            <a:off x="3117600" y="2889360"/>
            <a:ext cx="50817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69" name="TextBox 11"/>
          <p:cNvSpPr/>
          <p:nvPr/>
        </p:nvSpPr>
        <p:spPr>
          <a:xfrm>
            <a:off x="5214960" y="2195280"/>
            <a:ext cx="135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‘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HELLO’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2"/>
          <p:cNvSpPr/>
          <p:nvPr/>
        </p:nvSpPr>
        <p:spPr>
          <a:xfrm>
            <a:off x="5214960" y="2962440"/>
            <a:ext cx="135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‘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HELLO’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14"/>
          <p:cNvSpPr/>
          <p:nvPr/>
        </p:nvSpPr>
        <p:spPr>
          <a:xfrm>
            <a:off x="838080" y="5070600"/>
            <a:ext cx="63273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Cleanup_systems() is the garbage collector thread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Checks hello timestamps every second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If now-last_hello m&gt; 15 deletes neighbor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16"/>
          <p:cNvSpPr/>
          <p:nvPr/>
        </p:nvSpPr>
        <p:spPr>
          <a:xfrm>
            <a:off x="2874960" y="3656520"/>
            <a:ext cx="3666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Now -R2.last_hello = 16 -&gt;rmv()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Now – r3.last_hello =1 -&gt; nop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Oval 1"/>
          <p:cNvSpPr/>
          <p:nvPr/>
        </p:nvSpPr>
        <p:spPr>
          <a:xfrm>
            <a:off x="101484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Oval 2"/>
          <p:cNvSpPr/>
          <p:nvPr/>
        </p:nvSpPr>
        <p:spPr>
          <a:xfrm>
            <a:off x="8199000" y="23500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Liveness check – Garbage Collection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4"/>
          <p:cNvSpPr/>
          <p:nvPr/>
        </p:nvSpPr>
        <p:spPr>
          <a:xfrm>
            <a:off x="188964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5"/>
          <p:cNvSpPr/>
          <p:nvPr/>
        </p:nvSpPr>
        <p:spPr>
          <a:xfrm>
            <a:off x="9073800" y="19807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6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T=21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7"/>
          <p:cNvSpPr/>
          <p:nvPr/>
        </p:nvSpPr>
        <p:spPr>
          <a:xfrm>
            <a:off x="1014840" y="3587040"/>
            <a:ext cx="2422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R3: last_hello = 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8"/>
          <p:cNvSpPr/>
          <p:nvPr/>
        </p:nvSpPr>
        <p:spPr>
          <a:xfrm>
            <a:off x="9965520" y="3331800"/>
            <a:ext cx="2422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R1: last_hello = 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1" name="Straight Arrow Connector 9"/>
          <p:cNvCxnSpPr>
            <a:stCxn id="173" idx="7"/>
            <a:endCxn id="174" idx="1"/>
          </p:cNvCxnSpPr>
          <p:nvPr/>
        </p:nvCxnSpPr>
        <p:spPr>
          <a:xfrm>
            <a:off x="2809800" y="2507760"/>
            <a:ext cx="56973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82" name="Straight Arrow Connector 10"/>
          <p:cNvCxnSpPr>
            <a:stCxn id="174" idx="2"/>
            <a:endCxn id="173" idx="6"/>
          </p:cNvCxnSpPr>
          <p:nvPr/>
        </p:nvCxnSpPr>
        <p:spPr>
          <a:xfrm flipH="1">
            <a:off x="3117600" y="2889360"/>
            <a:ext cx="50817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83" name="TextBox 11"/>
          <p:cNvSpPr/>
          <p:nvPr/>
        </p:nvSpPr>
        <p:spPr>
          <a:xfrm>
            <a:off x="5214960" y="2195280"/>
            <a:ext cx="135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‘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HELLO’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12"/>
          <p:cNvSpPr/>
          <p:nvPr/>
        </p:nvSpPr>
        <p:spPr>
          <a:xfrm>
            <a:off x="5214960" y="2962440"/>
            <a:ext cx="135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‘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HELLO’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DV Protocol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1"/>
          <p:cNvSpPr/>
          <p:nvPr/>
        </p:nvSpPr>
        <p:spPr>
          <a:xfrm>
            <a:off x="373320" y="1240920"/>
            <a:ext cx="1181844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Send updates of the routing table (RT) to known neighbors (active neghbors) over UDP at intervals of 20s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Stop if no changes happen to the RT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If topology changes trigger updates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periodic_dv_sender() is the sender thread that takes a snapshot of the RT and send to neighbors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send_dv_updates() is the function for serialization with Google protocol buffers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start_udp_server() receiving thread, handles dv updates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process_dv_update() function with processing logic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Oval 1"/>
          <p:cNvSpPr/>
          <p:nvPr/>
        </p:nvSpPr>
        <p:spPr>
          <a:xfrm>
            <a:off x="101484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Oval 2"/>
          <p:cNvSpPr/>
          <p:nvPr/>
        </p:nvSpPr>
        <p:spPr>
          <a:xfrm>
            <a:off x="823716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Oval 3"/>
          <p:cNvSpPr/>
          <p:nvPr/>
        </p:nvSpPr>
        <p:spPr>
          <a:xfrm>
            <a:off x="4569120" y="5469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DV Protocol – Init 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5"/>
          <p:cNvSpPr/>
          <p:nvPr/>
        </p:nvSpPr>
        <p:spPr>
          <a:xfrm>
            <a:off x="1889640" y="33303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6"/>
          <p:cNvSpPr/>
          <p:nvPr/>
        </p:nvSpPr>
        <p:spPr>
          <a:xfrm>
            <a:off x="5443560" y="50749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7"/>
          <p:cNvSpPr/>
          <p:nvPr/>
        </p:nvSpPr>
        <p:spPr>
          <a:xfrm>
            <a:off x="9073800" y="33681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8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5" name="Straight Arrow Connector 9"/>
          <p:cNvCxnSpPr>
            <a:stCxn id="196" idx="6"/>
            <a:endCxn id="188" idx="1"/>
          </p:cNvCxnSpPr>
          <p:nvPr/>
        </p:nvCxnSpPr>
        <p:spPr>
          <a:xfrm>
            <a:off x="6816240" y="2196720"/>
            <a:ext cx="172908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97" name="Straight Arrow Connector 11"/>
          <p:cNvCxnSpPr>
            <a:stCxn id="196" idx="2"/>
            <a:endCxn id="187" idx="7"/>
          </p:cNvCxnSpPr>
          <p:nvPr/>
        </p:nvCxnSpPr>
        <p:spPr>
          <a:xfrm flipH="1">
            <a:off x="2809800" y="2196720"/>
            <a:ext cx="190404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98" name="Straight Arrow Connector 13"/>
          <p:cNvCxnSpPr>
            <a:stCxn id="189" idx="6"/>
          </p:cNvCxnSpPr>
          <p:nvPr/>
        </p:nvCxnSpPr>
        <p:spPr>
          <a:xfrm flipV="1">
            <a:off x="6671880" y="4692240"/>
            <a:ext cx="1945800" cy="131688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199" name="Straight Arrow Connector 14"/>
          <p:cNvCxnSpPr>
            <a:stCxn id="189" idx="2"/>
            <a:endCxn id="187" idx="4"/>
          </p:cNvCxnSpPr>
          <p:nvPr/>
        </p:nvCxnSpPr>
        <p:spPr>
          <a:xfrm flipH="1" flipV="1">
            <a:off x="2066400" y="4802040"/>
            <a:ext cx="2503080" cy="120708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00" name="Rectangle 20"/>
          <p:cNvSpPr/>
          <p:nvPr/>
        </p:nvSpPr>
        <p:spPr>
          <a:xfrm>
            <a:off x="10859760" y="4006440"/>
            <a:ext cx="1136160" cy="513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01" name="Straight Arrow Connector 22"/>
          <p:cNvCxnSpPr>
            <a:stCxn id="188" idx="6"/>
            <a:endCxn id="200" idx="1"/>
          </p:cNvCxnSpPr>
          <p:nvPr/>
        </p:nvCxnSpPr>
        <p:spPr>
          <a:xfrm>
            <a:off x="10339920" y="4262760"/>
            <a:ext cx="52020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02" name="TextBox 23"/>
          <p:cNvSpPr/>
          <p:nvPr/>
        </p:nvSpPr>
        <p:spPr>
          <a:xfrm>
            <a:off x="11073600" y="3696840"/>
            <a:ext cx="83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host1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Oval 38"/>
          <p:cNvSpPr/>
          <p:nvPr/>
        </p:nvSpPr>
        <p:spPr>
          <a:xfrm>
            <a:off x="4713480" y="165744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39"/>
          <p:cNvSpPr/>
          <p:nvPr/>
        </p:nvSpPr>
        <p:spPr>
          <a:xfrm>
            <a:off x="5550120" y="13021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12"/>
          <p:cNvSpPr/>
          <p:nvPr/>
        </p:nvSpPr>
        <p:spPr>
          <a:xfrm>
            <a:off x="46080" y="5444280"/>
            <a:ext cx="36478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At init register active neighbors in RT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Abbreviation: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next hop -&gt; NH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Metric -&gt; 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Timestamp-&gt; 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15"/>
          <p:cNvSpPr/>
          <p:nvPr/>
        </p:nvSpPr>
        <p:spPr>
          <a:xfrm>
            <a:off x="7128720" y="1082520"/>
            <a:ext cx="25189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RT(r4):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16"/>
          <p:cNvSpPr/>
          <p:nvPr/>
        </p:nvSpPr>
        <p:spPr>
          <a:xfrm>
            <a:off x="9732960" y="4692240"/>
            <a:ext cx="2518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RT(r3):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Box 17"/>
          <p:cNvSpPr/>
          <p:nvPr/>
        </p:nvSpPr>
        <p:spPr>
          <a:xfrm>
            <a:off x="236880" y="1969200"/>
            <a:ext cx="25189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18"/>
          <p:cNvSpPr/>
          <p:nvPr/>
        </p:nvSpPr>
        <p:spPr>
          <a:xfrm>
            <a:off x="6895080" y="5707800"/>
            <a:ext cx="25189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RT(r2):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Oval 1"/>
          <p:cNvSpPr/>
          <p:nvPr/>
        </p:nvSpPr>
        <p:spPr>
          <a:xfrm>
            <a:off x="101484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Oval 2"/>
          <p:cNvSpPr/>
          <p:nvPr/>
        </p:nvSpPr>
        <p:spPr>
          <a:xfrm>
            <a:off x="823716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Oval 3"/>
          <p:cNvSpPr/>
          <p:nvPr/>
        </p:nvSpPr>
        <p:spPr>
          <a:xfrm>
            <a:off x="4569120" y="5469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itle 1"/>
          <p:cNvSpPr/>
          <p:nvPr/>
        </p:nvSpPr>
        <p:spPr>
          <a:xfrm>
            <a:off x="838080" y="1728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DV Protocol – Update 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Box 5"/>
          <p:cNvSpPr/>
          <p:nvPr/>
        </p:nvSpPr>
        <p:spPr>
          <a:xfrm>
            <a:off x="1889640" y="33303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6"/>
          <p:cNvSpPr/>
          <p:nvPr/>
        </p:nvSpPr>
        <p:spPr>
          <a:xfrm>
            <a:off x="5443560" y="50749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7"/>
          <p:cNvSpPr/>
          <p:nvPr/>
        </p:nvSpPr>
        <p:spPr>
          <a:xfrm>
            <a:off x="9073800" y="33681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8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7" name="Straight Arrow Connector 9"/>
          <p:cNvCxnSpPr>
            <a:stCxn id="218" idx="6"/>
            <a:endCxn id="210" idx="1"/>
          </p:cNvCxnSpPr>
          <p:nvPr/>
        </p:nvCxnSpPr>
        <p:spPr>
          <a:xfrm>
            <a:off x="6816240" y="2196720"/>
            <a:ext cx="172908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19" name="Straight Arrow Connector 11"/>
          <p:cNvCxnSpPr>
            <a:stCxn id="218" idx="2"/>
            <a:endCxn id="209" idx="7"/>
          </p:cNvCxnSpPr>
          <p:nvPr/>
        </p:nvCxnSpPr>
        <p:spPr>
          <a:xfrm flipH="1">
            <a:off x="2809800" y="2196720"/>
            <a:ext cx="190404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20" name="Straight Arrow Connector 12"/>
          <p:cNvCxnSpPr>
            <a:stCxn id="211" idx="6"/>
          </p:cNvCxnSpPr>
          <p:nvPr/>
        </p:nvCxnSpPr>
        <p:spPr>
          <a:xfrm flipV="1">
            <a:off x="6671880" y="4692240"/>
            <a:ext cx="1945800" cy="131688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21" name="Straight Arrow Connector 13"/>
          <p:cNvCxnSpPr>
            <a:stCxn id="211" idx="2"/>
            <a:endCxn id="209" idx="4"/>
          </p:cNvCxnSpPr>
          <p:nvPr/>
        </p:nvCxnSpPr>
        <p:spPr>
          <a:xfrm flipH="1" flipV="1">
            <a:off x="2066400" y="4802040"/>
            <a:ext cx="2503080" cy="120708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22" name="Rectangle 14"/>
          <p:cNvSpPr/>
          <p:nvPr/>
        </p:nvSpPr>
        <p:spPr>
          <a:xfrm>
            <a:off x="10859760" y="4006440"/>
            <a:ext cx="1136160" cy="513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23" name="Straight Arrow Connector 15"/>
          <p:cNvCxnSpPr>
            <a:stCxn id="210" idx="6"/>
            <a:endCxn id="222" idx="1"/>
          </p:cNvCxnSpPr>
          <p:nvPr/>
        </p:nvCxnSpPr>
        <p:spPr>
          <a:xfrm>
            <a:off x="10339920" y="4262760"/>
            <a:ext cx="52020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24" name="TextBox 16"/>
          <p:cNvSpPr/>
          <p:nvPr/>
        </p:nvSpPr>
        <p:spPr>
          <a:xfrm>
            <a:off x="11073600" y="3696840"/>
            <a:ext cx="83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host1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Oval 17"/>
          <p:cNvSpPr/>
          <p:nvPr/>
        </p:nvSpPr>
        <p:spPr>
          <a:xfrm>
            <a:off x="4713480" y="165744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18"/>
          <p:cNvSpPr/>
          <p:nvPr/>
        </p:nvSpPr>
        <p:spPr>
          <a:xfrm>
            <a:off x="5550120" y="13021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20"/>
          <p:cNvSpPr/>
          <p:nvPr/>
        </p:nvSpPr>
        <p:spPr>
          <a:xfrm>
            <a:off x="7121520" y="1044720"/>
            <a:ext cx="25189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RT(r4):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21"/>
          <p:cNvSpPr/>
          <p:nvPr/>
        </p:nvSpPr>
        <p:spPr>
          <a:xfrm>
            <a:off x="9732960" y="4692240"/>
            <a:ext cx="2518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RT(r3):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22"/>
          <p:cNvSpPr/>
          <p:nvPr/>
        </p:nvSpPr>
        <p:spPr>
          <a:xfrm>
            <a:off x="236880" y="1969200"/>
            <a:ext cx="25189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23"/>
          <p:cNvSpPr/>
          <p:nvPr/>
        </p:nvSpPr>
        <p:spPr>
          <a:xfrm>
            <a:off x="6895080" y="5707800"/>
            <a:ext cx="25189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RT(r2):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0" name="Straight Arrow Connector 25"/>
          <p:cNvCxnSpPr/>
          <p:nvPr/>
        </p:nvCxnSpPr>
        <p:spPr>
          <a:xfrm flipV="1">
            <a:off x="2755800" y="2817720"/>
            <a:ext cx="817920" cy="70020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231" name="Straight Arrow Connector 28"/>
          <p:cNvCxnSpPr/>
          <p:nvPr/>
        </p:nvCxnSpPr>
        <p:spPr>
          <a:xfrm flipH="1">
            <a:off x="4010040" y="2413440"/>
            <a:ext cx="791640" cy="75456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232" name="Straight Arrow Connector 30"/>
          <p:cNvCxnSpPr/>
          <p:nvPr/>
        </p:nvCxnSpPr>
        <p:spPr>
          <a:xfrm>
            <a:off x="2590560" y="4825800"/>
            <a:ext cx="1055160" cy="52380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233" name="Straight Arrow Connector 33"/>
          <p:cNvCxnSpPr/>
          <p:nvPr/>
        </p:nvCxnSpPr>
        <p:spPr>
          <a:xfrm>
            <a:off x="6961320" y="2164320"/>
            <a:ext cx="1004040" cy="77508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234" name="Straight Arrow Connector 38"/>
          <p:cNvCxnSpPr/>
          <p:nvPr/>
        </p:nvCxnSpPr>
        <p:spPr>
          <a:xfrm flipH="1">
            <a:off x="7644600" y="4725360"/>
            <a:ext cx="736920" cy="48528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235" name="Straight Arrow Connector 43"/>
          <p:cNvCxnSpPr/>
          <p:nvPr/>
        </p:nvCxnSpPr>
        <p:spPr>
          <a:xfrm flipV="1">
            <a:off x="6745680" y="5350320"/>
            <a:ext cx="606960" cy="44424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236" name="Straight Arrow Connector 45"/>
          <p:cNvCxnSpPr/>
          <p:nvPr/>
        </p:nvCxnSpPr>
        <p:spPr>
          <a:xfrm flipH="1" flipV="1">
            <a:off x="3414960" y="5794200"/>
            <a:ext cx="991080" cy="42012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237" name="TextBox 47"/>
          <p:cNvSpPr/>
          <p:nvPr/>
        </p:nvSpPr>
        <p:spPr>
          <a:xfrm rot="19294800">
            <a:off x="2531160" y="2725560"/>
            <a:ext cx="126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48"/>
          <p:cNvSpPr/>
          <p:nvPr/>
        </p:nvSpPr>
        <p:spPr>
          <a:xfrm rot="19294800">
            <a:off x="7314120" y="4530960"/>
            <a:ext cx="126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49"/>
          <p:cNvSpPr/>
          <p:nvPr/>
        </p:nvSpPr>
        <p:spPr>
          <a:xfrm rot="19294800">
            <a:off x="6350040" y="5173560"/>
            <a:ext cx="126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51"/>
          <p:cNvSpPr/>
          <p:nvPr/>
        </p:nvSpPr>
        <p:spPr>
          <a:xfrm rot="1311600">
            <a:off x="3177000" y="6077160"/>
            <a:ext cx="126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52"/>
          <p:cNvSpPr/>
          <p:nvPr/>
        </p:nvSpPr>
        <p:spPr>
          <a:xfrm rot="1659600">
            <a:off x="2781000" y="4790880"/>
            <a:ext cx="126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54"/>
          <p:cNvSpPr/>
          <p:nvPr/>
        </p:nvSpPr>
        <p:spPr>
          <a:xfrm rot="2504400">
            <a:off x="7151040" y="2264760"/>
            <a:ext cx="126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56"/>
          <p:cNvSpPr/>
          <p:nvPr/>
        </p:nvSpPr>
        <p:spPr>
          <a:xfrm rot="19294800">
            <a:off x="4094280" y="2653560"/>
            <a:ext cx="1269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Oval 1"/>
          <p:cNvSpPr/>
          <p:nvPr/>
        </p:nvSpPr>
        <p:spPr>
          <a:xfrm>
            <a:off x="101484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Oval 2"/>
          <p:cNvSpPr/>
          <p:nvPr/>
        </p:nvSpPr>
        <p:spPr>
          <a:xfrm>
            <a:off x="823716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" name="Oval 3"/>
          <p:cNvSpPr/>
          <p:nvPr/>
        </p:nvSpPr>
        <p:spPr>
          <a:xfrm>
            <a:off x="4569120" y="5469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DV Protocol – Update 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5"/>
          <p:cNvSpPr/>
          <p:nvPr/>
        </p:nvSpPr>
        <p:spPr>
          <a:xfrm>
            <a:off x="1889640" y="33303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6"/>
          <p:cNvSpPr/>
          <p:nvPr/>
        </p:nvSpPr>
        <p:spPr>
          <a:xfrm>
            <a:off x="5443560" y="50749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7"/>
          <p:cNvSpPr/>
          <p:nvPr/>
        </p:nvSpPr>
        <p:spPr>
          <a:xfrm>
            <a:off x="9073800" y="33681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8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T=21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2" name="Straight Arrow Connector 9"/>
          <p:cNvCxnSpPr>
            <a:stCxn id="253" idx="6"/>
            <a:endCxn id="245" idx="1"/>
          </p:cNvCxnSpPr>
          <p:nvPr/>
        </p:nvCxnSpPr>
        <p:spPr>
          <a:xfrm>
            <a:off x="6816240" y="2196720"/>
            <a:ext cx="172908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54" name="Straight Arrow Connector 11"/>
          <p:cNvCxnSpPr>
            <a:stCxn id="253" idx="2"/>
            <a:endCxn id="244" idx="7"/>
          </p:cNvCxnSpPr>
          <p:nvPr/>
        </p:nvCxnSpPr>
        <p:spPr>
          <a:xfrm flipH="1">
            <a:off x="2809800" y="2196720"/>
            <a:ext cx="190404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55" name="Straight Arrow Connector 12"/>
          <p:cNvCxnSpPr>
            <a:stCxn id="246" idx="6"/>
          </p:cNvCxnSpPr>
          <p:nvPr/>
        </p:nvCxnSpPr>
        <p:spPr>
          <a:xfrm flipV="1">
            <a:off x="6671880" y="4692240"/>
            <a:ext cx="1945800" cy="131688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56" name="Straight Arrow Connector 13"/>
          <p:cNvCxnSpPr>
            <a:stCxn id="246" idx="2"/>
            <a:endCxn id="244" idx="4"/>
          </p:cNvCxnSpPr>
          <p:nvPr/>
        </p:nvCxnSpPr>
        <p:spPr>
          <a:xfrm flipH="1" flipV="1">
            <a:off x="2066400" y="4802040"/>
            <a:ext cx="2503080" cy="120708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57" name="Rectangle 14"/>
          <p:cNvSpPr/>
          <p:nvPr/>
        </p:nvSpPr>
        <p:spPr>
          <a:xfrm>
            <a:off x="10859760" y="4006440"/>
            <a:ext cx="1136160" cy="513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58" name="Straight Arrow Connector 15"/>
          <p:cNvCxnSpPr>
            <a:stCxn id="245" idx="6"/>
            <a:endCxn id="257" idx="1"/>
          </p:cNvCxnSpPr>
          <p:nvPr/>
        </p:nvCxnSpPr>
        <p:spPr>
          <a:xfrm>
            <a:off x="10339920" y="4262760"/>
            <a:ext cx="52020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59" name="TextBox 16"/>
          <p:cNvSpPr/>
          <p:nvPr/>
        </p:nvSpPr>
        <p:spPr>
          <a:xfrm>
            <a:off x="11073600" y="3696840"/>
            <a:ext cx="83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host1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Oval 17"/>
          <p:cNvSpPr/>
          <p:nvPr/>
        </p:nvSpPr>
        <p:spPr>
          <a:xfrm>
            <a:off x="4713480" y="165744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0" name="TextBox 18"/>
          <p:cNvSpPr/>
          <p:nvPr/>
        </p:nvSpPr>
        <p:spPr>
          <a:xfrm>
            <a:off x="5550120" y="13021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20"/>
          <p:cNvSpPr/>
          <p:nvPr/>
        </p:nvSpPr>
        <p:spPr>
          <a:xfrm>
            <a:off x="7128720" y="1082520"/>
            <a:ext cx="25189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RT(r4):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R1 , M:1,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H1 , M:1,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21"/>
          <p:cNvSpPr/>
          <p:nvPr/>
        </p:nvSpPr>
        <p:spPr>
          <a:xfrm>
            <a:off x="9732960" y="4692240"/>
            <a:ext cx="2518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RT(r3):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R4 , M:1,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22"/>
          <p:cNvSpPr/>
          <p:nvPr/>
        </p:nvSpPr>
        <p:spPr>
          <a:xfrm>
            <a:off x="236880" y="1969200"/>
            <a:ext cx="2518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NH:R2 , M:1,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23"/>
          <p:cNvSpPr/>
          <p:nvPr/>
        </p:nvSpPr>
        <p:spPr>
          <a:xfrm>
            <a:off x="1024200" y="5281200"/>
            <a:ext cx="2518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RT(r2):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NH:R1 , M:1,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NH:R3 , M:1,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Oval 1"/>
          <p:cNvSpPr/>
          <p:nvPr/>
        </p:nvSpPr>
        <p:spPr>
          <a:xfrm>
            <a:off x="101484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Oval 2"/>
          <p:cNvSpPr/>
          <p:nvPr/>
        </p:nvSpPr>
        <p:spPr>
          <a:xfrm>
            <a:off x="823716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Oval 3"/>
          <p:cNvSpPr/>
          <p:nvPr/>
        </p:nvSpPr>
        <p:spPr>
          <a:xfrm>
            <a:off x="4569120" y="5469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DV Protocol – Update 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Box 5"/>
          <p:cNvSpPr/>
          <p:nvPr/>
        </p:nvSpPr>
        <p:spPr>
          <a:xfrm>
            <a:off x="1889640" y="33303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6"/>
          <p:cNvSpPr/>
          <p:nvPr/>
        </p:nvSpPr>
        <p:spPr>
          <a:xfrm>
            <a:off x="5443560" y="50749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7"/>
          <p:cNvSpPr/>
          <p:nvPr/>
        </p:nvSpPr>
        <p:spPr>
          <a:xfrm>
            <a:off x="9073800" y="33681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Box 8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73" name="Straight Arrow Connector 9"/>
          <p:cNvCxnSpPr>
            <a:stCxn id="274" idx="6"/>
            <a:endCxn id="266" idx="1"/>
          </p:cNvCxnSpPr>
          <p:nvPr/>
        </p:nvCxnSpPr>
        <p:spPr>
          <a:xfrm>
            <a:off x="6816240" y="2196720"/>
            <a:ext cx="172908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75" name="Straight Arrow Connector 10"/>
          <p:cNvCxnSpPr>
            <a:stCxn id="274" idx="2"/>
            <a:endCxn id="265" idx="7"/>
          </p:cNvCxnSpPr>
          <p:nvPr/>
        </p:nvCxnSpPr>
        <p:spPr>
          <a:xfrm flipH="1">
            <a:off x="2809800" y="2196720"/>
            <a:ext cx="190404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76" name="Straight Arrow Connector 11"/>
          <p:cNvCxnSpPr>
            <a:stCxn id="267" idx="6"/>
          </p:cNvCxnSpPr>
          <p:nvPr/>
        </p:nvCxnSpPr>
        <p:spPr>
          <a:xfrm flipV="1">
            <a:off x="6671880" y="4692240"/>
            <a:ext cx="1945800" cy="131688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77" name="Straight Arrow Connector 12"/>
          <p:cNvCxnSpPr>
            <a:stCxn id="267" idx="2"/>
            <a:endCxn id="265" idx="4"/>
          </p:cNvCxnSpPr>
          <p:nvPr/>
        </p:nvCxnSpPr>
        <p:spPr>
          <a:xfrm flipH="1" flipV="1">
            <a:off x="2066400" y="4802040"/>
            <a:ext cx="2503080" cy="120708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78" name="Rectangle 13"/>
          <p:cNvSpPr/>
          <p:nvPr/>
        </p:nvSpPr>
        <p:spPr>
          <a:xfrm>
            <a:off x="10859760" y="4006440"/>
            <a:ext cx="1136160" cy="513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79" name="Straight Arrow Connector 14"/>
          <p:cNvCxnSpPr>
            <a:stCxn id="266" idx="6"/>
            <a:endCxn id="278" idx="1"/>
          </p:cNvCxnSpPr>
          <p:nvPr/>
        </p:nvCxnSpPr>
        <p:spPr>
          <a:xfrm>
            <a:off x="10339920" y="4262760"/>
            <a:ext cx="52020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280" name="TextBox 15"/>
          <p:cNvSpPr/>
          <p:nvPr/>
        </p:nvSpPr>
        <p:spPr>
          <a:xfrm>
            <a:off x="11073600" y="3696840"/>
            <a:ext cx="83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host1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Oval 16"/>
          <p:cNvSpPr/>
          <p:nvPr/>
        </p:nvSpPr>
        <p:spPr>
          <a:xfrm>
            <a:off x="4713480" y="165744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TextBox 17"/>
          <p:cNvSpPr/>
          <p:nvPr/>
        </p:nvSpPr>
        <p:spPr>
          <a:xfrm>
            <a:off x="5550120" y="13021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18"/>
          <p:cNvSpPr/>
          <p:nvPr/>
        </p:nvSpPr>
        <p:spPr>
          <a:xfrm>
            <a:off x="7128720" y="1082520"/>
            <a:ext cx="25189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RT(r4):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R1 , M:1,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H1 , M:1,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19"/>
          <p:cNvSpPr/>
          <p:nvPr/>
        </p:nvSpPr>
        <p:spPr>
          <a:xfrm>
            <a:off x="9732960" y="4692240"/>
            <a:ext cx="2518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RT(r3):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R4 , M:1,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20"/>
          <p:cNvSpPr/>
          <p:nvPr/>
        </p:nvSpPr>
        <p:spPr>
          <a:xfrm>
            <a:off x="236880" y="1969200"/>
            <a:ext cx="2518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NH:R2 , M:1,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Box 21"/>
          <p:cNvSpPr/>
          <p:nvPr/>
        </p:nvSpPr>
        <p:spPr>
          <a:xfrm>
            <a:off x="1024200" y="5281200"/>
            <a:ext cx="2518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RT(r2):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NH:R1 , M:1,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NH:R3 , M:1,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22"/>
          <p:cNvSpPr/>
          <p:nvPr/>
        </p:nvSpPr>
        <p:spPr>
          <a:xfrm>
            <a:off x="4569120" y="3696840"/>
            <a:ext cx="1756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SEND UPDATES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Oval 1"/>
          <p:cNvSpPr/>
          <p:nvPr/>
        </p:nvSpPr>
        <p:spPr>
          <a:xfrm>
            <a:off x="101484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Oval 2"/>
          <p:cNvSpPr/>
          <p:nvPr/>
        </p:nvSpPr>
        <p:spPr>
          <a:xfrm>
            <a:off x="823716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" name="Oval 3"/>
          <p:cNvSpPr/>
          <p:nvPr/>
        </p:nvSpPr>
        <p:spPr>
          <a:xfrm>
            <a:off x="4569120" y="5469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DV Protocol – Update 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5"/>
          <p:cNvSpPr/>
          <p:nvPr/>
        </p:nvSpPr>
        <p:spPr>
          <a:xfrm>
            <a:off x="1889640" y="33303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Box 6"/>
          <p:cNvSpPr/>
          <p:nvPr/>
        </p:nvSpPr>
        <p:spPr>
          <a:xfrm>
            <a:off x="5443560" y="50749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Box 7"/>
          <p:cNvSpPr/>
          <p:nvPr/>
        </p:nvSpPr>
        <p:spPr>
          <a:xfrm>
            <a:off x="9073800" y="33681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8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5" name="Straight Arrow Connector 9"/>
          <p:cNvCxnSpPr>
            <a:stCxn id="296" idx="6"/>
            <a:endCxn id="288" idx="1"/>
          </p:cNvCxnSpPr>
          <p:nvPr/>
        </p:nvCxnSpPr>
        <p:spPr>
          <a:xfrm>
            <a:off x="6816240" y="2196720"/>
            <a:ext cx="172908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97" name="Straight Arrow Connector 10"/>
          <p:cNvCxnSpPr>
            <a:stCxn id="296" idx="2"/>
            <a:endCxn id="287" idx="7"/>
          </p:cNvCxnSpPr>
          <p:nvPr/>
        </p:nvCxnSpPr>
        <p:spPr>
          <a:xfrm flipH="1">
            <a:off x="2809800" y="2196720"/>
            <a:ext cx="190404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98" name="Straight Arrow Connector 11"/>
          <p:cNvCxnSpPr>
            <a:stCxn id="289" idx="6"/>
          </p:cNvCxnSpPr>
          <p:nvPr/>
        </p:nvCxnSpPr>
        <p:spPr>
          <a:xfrm flipV="1">
            <a:off x="6671880" y="4692240"/>
            <a:ext cx="1945800" cy="131688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299" name="Straight Arrow Connector 12"/>
          <p:cNvCxnSpPr>
            <a:stCxn id="289" idx="2"/>
            <a:endCxn id="287" idx="4"/>
          </p:cNvCxnSpPr>
          <p:nvPr/>
        </p:nvCxnSpPr>
        <p:spPr>
          <a:xfrm flipH="1" flipV="1">
            <a:off x="2066400" y="4802040"/>
            <a:ext cx="2503080" cy="120708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300" name="Rectangle 13"/>
          <p:cNvSpPr/>
          <p:nvPr/>
        </p:nvSpPr>
        <p:spPr>
          <a:xfrm>
            <a:off x="10859760" y="4006440"/>
            <a:ext cx="1136160" cy="513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01" name="Straight Arrow Connector 14"/>
          <p:cNvCxnSpPr>
            <a:stCxn id="288" idx="6"/>
            <a:endCxn id="300" idx="1"/>
          </p:cNvCxnSpPr>
          <p:nvPr/>
        </p:nvCxnSpPr>
        <p:spPr>
          <a:xfrm>
            <a:off x="10339920" y="4262760"/>
            <a:ext cx="52020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302" name="TextBox 15"/>
          <p:cNvSpPr/>
          <p:nvPr/>
        </p:nvSpPr>
        <p:spPr>
          <a:xfrm>
            <a:off x="11073600" y="3696840"/>
            <a:ext cx="83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host1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Oval 16"/>
          <p:cNvSpPr/>
          <p:nvPr/>
        </p:nvSpPr>
        <p:spPr>
          <a:xfrm>
            <a:off x="4713480" y="165744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TextBox 17"/>
          <p:cNvSpPr/>
          <p:nvPr/>
        </p:nvSpPr>
        <p:spPr>
          <a:xfrm>
            <a:off x="5550120" y="13021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Box 18"/>
          <p:cNvSpPr/>
          <p:nvPr/>
        </p:nvSpPr>
        <p:spPr>
          <a:xfrm>
            <a:off x="7128720" y="1082520"/>
            <a:ext cx="25189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RT(r4):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R1 , M:1, TS:40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H1 , M:1, TS:40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Box 19"/>
          <p:cNvSpPr/>
          <p:nvPr/>
        </p:nvSpPr>
        <p:spPr>
          <a:xfrm>
            <a:off x="9732960" y="4692240"/>
            <a:ext cx="2518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RT(r3):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- , M:0, TS:40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- , M:0, TS:40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R4 , M:1, TS:40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Box 20"/>
          <p:cNvSpPr/>
          <p:nvPr/>
        </p:nvSpPr>
        <p:spPr>
          <a:xfrm>
            <a:off x="236880" y="1969200"/>
            <a:ext cx="251892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- , M:0, TS:40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NH:R2 , M:1, TS:40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H1, NH:R2, M:2, TS:40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21"/>
          <p:cNvSpPr/>
          <p:nvPr/>
        </p:nvSpPr>
        <p:spPr>
          <a:xfrm>
            <a:off x="1024200" y="5281200"/>
            <a:ext cx="2518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RT(r2):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NH:R1 , M:1,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NH:R3 , M:1, TS:20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Box 23"/>
          <p:cNvSpPr/>
          <p:nvPr/>
        </p:nvSpPr>
        <p:spPr>
          <a:xfrm>
            <a:off x="6672240" y="5896440"/>
            <a:ext cx="3523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In the next round only R1 will see change and send update, after that update exchange stops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Oval 1"/>
          <p:cNvSpPr/>
          <p:nvPr/>
        </p:nvSpPr>
        <p:spPr>
          <a:xfrm>
            <a:off x="101484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Oval 2"/>
          <p:cNvSpPr/>
          <p:nvPr/>
        </p:nvSpPr>
        <p:spPr>
          <a:xfrm>
            <a:off x="823716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Oval 3"/>
          <p:cNvSpPr/>
          <p:nvPr/>
        </p:nvSpPr>
        <p:spPr>
          <a:xfrm>
            <a:off x="4569120" y="5469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DV Protocol – Update 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Box 5"/>
          <p:cNvSpPr/>
          <p:nvPr/>
        </p:nvSpPr>
        <p:spPr>
          <a:xfrm>
            <a:off x="1889640" y="33303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Box 6"/>
          <p:cNvSpPr/>
          <p:nvPr/>
        </p:nvSpPr>
        <p:spPr>
          <a:xfrm>
            <a:off x="5443560" y="50749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Box 7"/>
          <p:cNvSpPr/>
          <p:nvPr/>
        </p:nvSpPr>
        <p:spPr>
          <a:xfrm>
            <a:off x="9073800" y="33681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Box 8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17" name="Straight Arrow Connector 9"/>
          <p:cNvCxnSpPr>
            <a:stCxn id="318" idx="6"/>
            <a:endCxn id="310" idx="1"/>
          </p:cNvCxnSpPr>
          <p:nvPr/>
        </p:nvCxnSpPr>
        <p:spPr>
          <a:xfrm>
            <a:off x="6816240" y="2196720"/>
            <a:ext cx="172908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319" name="Straight Arrow Connector 10"/>
          <p:cNvCxnSpPr>
            <a:stCxn id="318" idx="2"/>
            <a:endCxn id="309" idx="7"/>
          </p:cNvCxnSpPr>
          <p:nvPr/>
        </p:nvCxnSpPr>
        <p:spPr>
          <a:xfrm flipH="1">
            <a:off x="2809800" y="2196720"/>
            <a:ext cx="190404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320" name="Straight Arrow Connector 11"/>
          <p:cNvCxnSpPr>
            <a:stCxn id="311" idx="6"/>
          </p:cNvCxnSpPr>
          <p:nvPr/>
        </p:nvCxnSpPr>
        <p:spPr>
          <a:xfrm flipV="1">
            <a:off x="6671880" y="4692240"/>
            <a:ext cx="1945800" cy="131688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321" name="Straight Arrow Connector 12"/>
          <p:cNvCxnSpPr>
            <a:stCxn id="311" idx="2"/>
            <a:endCxn id="309" idx="4"/>
          </p:cNvCxnSpPr>
          <p:nvPr/>
        </p:nvCxnSpPr>
        <p:spPr>
          <a:xfrm flipH="1" flipV="1">
            <a:off x="2066400" y="4802040"/>
            <a:ext cx="2503080" cy="120708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322" name="Rectangle 13"/>
          <p:cNvSpPr/>
          <p:nvPr/>
        </p:nvSpPr>
        <p:spPr>
          <a:xfrm>
            <a:off x="10859760" y="4006440"/>
            <a:ext cx="1136160" cy="513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23" name="Straight Arrow Connector 14"/>
          <p:cNvCxnSpPr>
            <a:stCxn id="310" idx="6"/>
            <a:endCxn id="322" idx="1"/>
          </p:cNvCxnSpPr>
          <p:nvPr/>
        </p:nvCxnSpPr>
        <p:spPr>
          <a:xfrm>
            <a:off x="10339920" y="4262760"/>
            <a:ext cx="52020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324" name="TextBox 15"/>
          <p:cNvSpPr/>
          <p:nvPr/>
        </p:nvSpPr>
        <p:spPr>
          <a:xfrm>
            <a:off x="11073600" y="3696840"/>
            <a:ext cx="83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host1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Oval 16"/>
          <p:cNvSpPr/>
          <p:nvPr/>
        </p:nvSpPr>
        <p:spPr>
          <a:xfrm>
            <a:off x="4713480" y="165744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17"/>
          <p:cNvSpPr/>
          <p:nvPr/>
        </p:nvSpPr>
        <p:spPr>
          <a:xfrm>
            <a:off x="5550120" y="13021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18"/>
          <p:cNvSpPr/>
          <p:nvPr/>
        </p:nvSpPr>
        <p:spPr>
          <a:xfrm>
            <a:off x="7128720" y="1082520"/>
            <a:ext cx="25189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RT(r4):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R1 , M:1,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H1 , M:1,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19"/>
          <p:cNvSpPr/>
          <p:nvPr/>
        </p:nvSpPr>
        <p:spPr>
          <a:xfrm>
            <a:off x="9732960" y="4692240"/>
            <a:ext cx="2518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RT(r3):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R4 , M:1,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20"/>
          <p:cNvSpPr/>
          <p:nvPr/>
        </p:nvSpPr>
        <p:spPr>
          <a:xfrm>
            <a:off x="236880" y="1969200"/>
            <a:ext cx="251892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NH:R2 , M:1,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H1, NH:R2, M:2,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Box 21"/>
          <p:cNvSpPr/>
          <p:nvPr/>
        </p:nvSpPr>
        <p:spPr>
          <a:xfrm>
            <a:off x="1024200" y="5281200"/>
            <a:ext cx="2518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RT(r2):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NH:R1 , M:1,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NH:R3 , M:1,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Lightning Bolt 24"/>
          <p:cNvSpPr/>
          <p:nvPr/>
        </p:nvSpPr>
        <p:spPr>
          <a:xfrm>
            <a:off x="4492800" y="4923720"/>
            <a:ext cx="575640" cy="636840"/>
          </a:xfrm>
          <a:prstGeom prst="lightningBol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1" name="Multiplication Sign 25"/>
          <p:cNvSpPr/>
          <p:nvPr/>
        </p:nvSpPr>
        <p:spPr>
          <a:xfrm>
            <a:off x="4820400" y="5444280"/>
            <a:ext cx="1398600" cy="107856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Oval 1"/>
          <p:cNvSpPr/>
          <p:nvPr/>
        </p:nvSpPr>
        <p:spPr>
          <a:xfrm>
            <a:off x="101484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Oval 2"/>
          <p:cNvSpPr/>
          <p:nvPr/>
        </p:nvSpPr>
        <p:spPr>
          <a:xfrm>
            <a:off x="823716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4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DV Protocol – Update 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4"/>
          <p:cNvSpPr/>
          <p:nvPr/>
        </p:nvSpPr>
        <p:spPr>
          <a:xfrm>
            <a:off x="1889640" y="33303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5"/>
          <p:cNvSpPr/>
          <p:nvPr/>
        </p:nvSpPr>
        <p:spPr>
          <a:xfrm>
            <a:off x="9073800" y="33681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Box 6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8" name="Straight Arrow Connector 7"/>
          <p:cNvCxnSpPr>
            <a:stCxn id="339" idx="6"/>
            <a:endCxn id="333" idx="1"/>
          </p:cNvCxnSpPr>
          <p:nvPr/>
        </p:nvCxnSpPr>
        <p:spPr>
          <a:xfrm>
            <a:off x="6816240" y="2196720"/>
            <a:ext cx="172908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340" name="Straight Arrow Connector 8"/>
          <p:cNvCxnSpPr>
            <a:stCxn id="339" idx="2"/>
            <a:endCxn id="332" idx="7"/>
          </p:cNvCxnSpPr>
          <p:nvPr/>
        </p:nvCxnSpPr>
        <p:spPr>
          <a:xfrm flipH="1">
            <a:off x="2809800" y="2196720"/>
            <a:ext cx="190404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341" name="Rectangle 9"/>
          <p:cNvSpPr/>
          <p:nvPr/>
        </p:nvSpPr>
        <p:spPr>
          <a:xfrm>
            <a:off x="10859760" y="4006440"/>
            <a:ext cx="1136160" cy="513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42" name="Straight Arrow Connector 10"/>
          <p:cNvCxnSpPr>
            <a:stCxn id="333" idx="6"/>
            <a:endCxn id="341" idx="1"/>
          </p:cNvCxnSpPr>
          <p:nvPr/>
        </p:nvCxnSpPr>
        <p:spPr>
          <a:xfrm>
            <a:off x="10339920" y="4262760"/>
            <a:ext cx="52020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343" name="TextBox 11"/>
          <p:cNvSpPr/>
          <p:nvPr/>
        </p:nvSpPr>
        <p:spPr>
          <a:xfrm>
            <a:off x="11073600" y="3696840"/>
            <a:ext cx="83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host1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Oval 12"/>
          <p:cNvSpPr/>
          <p:nvPr/>
        </p:nvSpPr>
        <p:spPr>
          <a:xfrm>
            <a:off x="4713480" y="165744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TextBox 13"/>
          <p:cNvSpPr/>
          <p:nvPr/>
        </p:nvSpPr>
        <p:spPr>
          <a:xfrm>
            <a:off x="5550120" y="13021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14"/>
          <p:cNvSpPr/>
          <p:nvPr/>
        </p:nvSpPr>
        <p:spPr>
          <a:xfrm>
            <a:off x="7128720" y="1082520"/>
            <a:ext cx="361548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RT(r4):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R1 , M:16, TS:80 &lt;&lt;DEAD&gt;&gt;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H1 , M:1,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Box 16"/>
          <p:cNvSpPr/>
          <p:nvPr/>
        </p:nvSpPr>
        <p:spPr>
          <a:xfrm>
            <a:off x="236880" y="1969200"/>
            <a:ext cx="342072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- , M:16, TS:80 &lt;&lt;DEAD&gt;&gt;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NH:R2 , M:1,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H1, NH:R2, M:2,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17"/>
          <p:cNvSpPr/>
          <p:nvPr/>
        </p:nvSpPr>
        <p:spPr>
          <a:xfrm>
            <a:off x="4493520" y="3705120"/>
            <a:ext cx="3278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1) crush → METRIC=16, UNREACHABLE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48" name="Straight Arrow Connector 1"/>
          <p:cNvCxnSpPr/>
          <p:nvPr/>
        </p:nvCxnSpPr>
        <p:spPr>
          <a:xfrm flipV="1">
            <a:off x="2808720" y="3015000"/>
            <a:ext cx="661320" cy="58824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349" name="Straight Arrow Connector 2"/>
          <p:cNvCxnSpPr/>
          <p:nvPr/>
        </p:nvCxnSpPr>
        <p:spPr>
          <a:xfrm flipH="1" flipV="1">
            <a:off x="7857720" y="3015000"/>
            <a:ext cx="689040" cy="58824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350" name="TextBox 3"/>
          <p:cNvSpPr/>
          <p:nvPr/>
        </p:nvSpPr>
        <p:spPr>
          <a:xfrm rot="2440200">
            <a:off x="7763040" y="3081600"/>
            <a:ext cx="15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Box 38"/>
          <p:cNvSpPr/>
          <p:nvPr/>
        </p:nvSpPr>
        <p:spPr>
          <a:xfrm rot="19037400">
            <a:off x="2666520" y="2645280"/>
            <a:ext cx="15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Box 40"/>
          <p:cNvSpPr/>
          <p:nvPr/>
        </p:nvSpPr>
        <p:spPr>
          <a:xfrm>
            <a:off x="8686800" y="4800600"/>
            <a:ext cx="342900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RT(r3):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R2 , NH: - , M:16, TS:80 &lt;&lt;DEAD&gt;&gt;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R4 , M:1,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Oval 1"/>
          <p:cNvSpPr/>
          <p:nvPr/>
        </p:nvSpPr>
        <p:spPr>
          <a:xfrm>
            <a:off x="101484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4" name="Oval 2"/>
          <p:cNvSpPr/>
          <p:nvPr/>
        </p:nvSpPr>
        <p:spPr>
          <a:xfrm>
            <a:off x="823716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DV Protocol – Update 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4"/>
          <p:cNvSpPr/>
          <p:nvPr/>
        </p:nvSpPr>
        <p:spPr>
          <a:xfrm>
            <a:off x="1889640" y="33303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5"/>
          <p:cNvSpPr/>
          <p:nvPr/>
        </p:nvSpPr>
        <p:spPr>
          <a:xfrm>
            <a:off x="9073800" y="33681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Box 6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T=100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9" name="Straight Arrow Connector 7"/>
          <p:cNvCxnSpPr>
            <a:stCxn id="360" idx="6"/>
            <a:endCxn id="354" idx="1"/>
          </p:cNvCxnSpPr>
          <p:nvPr/>
        </p:nvCxnSpPr>
        <p:spPr>
          <a:xfrm>
            <a:off x="6816240" y="2196720"/>
            <a:ext cx="172908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361" name="Straight Arrow Connector 8"/>
          <p:cNvCxnSpPr>
            <a:stCxn id="360" idx="2"/>
            <a:endCxn id="353" idx="7"/>
          </p:cNvCxnSpPr>
          <p:nvPr/>
        </p:nvCxnSpPr>
        <p:spPr>
          <a:xfrm flipH="1">
            <a:off x="2809800" y="2196720"/>
            <a:ext cx="190404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362" name="Rectangle 9"/>
          <p:cNvSpPr/>
          <p:nvPr/>
        </p:nvSpPr>
        <p:spPr>
          <a:xfrm>
            <a:off x="10859760" y="4006440"/>
            <a:ext cx="1136160" cy="513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63" name="Straight Arrow Connector 10"/>
          <p:cNvCxnSpPr>
            <a:stCxn id="354" idx="6"/>
            <a:endCxn id="362" idx="1"/>
          </p:cNvCxnSpPr>
          <p:nvPr/>
        </p:nvCxnSpPr>
        <p:spPr>
          <a:xfrm>
            <a:off x="10339920" y="4262760"/>
            <a:ext cx="52020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364" name="TextBox 11"/>
          <p:cNvSpPr/>
          <p:nvPr/>
        </p:nvSpPr>
        <p:spPr>
          <a:xfrm>
            <a:off x="11073600" y="3696840"/>
            <a:ext cx="83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host1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Oval 12"/>
          <p:cNvSpPr/>
          <p:nvPr/>
        </p:nvSpPr>
        <p:spPr>
          <a:xfrm>
            <a:off x="4713480" y="165744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TextBox 13"/>
          <p:cNvSpPr/>
          <p:nvPr/>
        </p:nvSpPr>
        <p:spPr>
          <a:xfrm>
            <a:off x="5550120" y="13021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Box 17"/>
          <p:cNvSpPr/>
          <p:nvPr/>
        </p:nvSpPr>
        <p:spPr>
          <a:xfrm>
            <a:off x="4017240" y="3737520"/>
            <a:ext cx="32788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1)Send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2) R2 GETS DELETED FROM ANY ROUTING TABLE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67" name="Straight Arrow Connector 19"/>
          <p:cNvCxnSpPr/>
          <p:nvPr/>
        </p:nvCxnSpPr>
        <p:spPr>
          <a:xfrm flipV="1">
            <a:off x="2809800" y="3013560"/>
            <a:ext cx="661320" cy="58824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368" name="Straight Arrow Connector 21"/>
          <p:cNvCxnSpPr/>
          <p:nvPr/>
        </p:nvCxnSpPr>
        <p:spPr>
          <a:xfrm flipH="1" flipV="1">
            <a:off x="7856280" y="3013560"/>
            <a:ext cx="689040" cy="58824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369" name="TextBox 22"/>
          <p:cNvSpPr/>
          <p:nvPr/>
        </p:nvSpPr>
        <p:spPr>
          <a:xfrm rot="19037400">
            <a:off x="2666520" y="2645280"/>
            <a:ext cx="15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Box 23"/>
          <p:cNvSpPr/>
          <p:nvPr/>
        </p:nvSpPr>
        <p:spPr>
          <a:xfrm rot="2440200">
            <a:off x="7762680" y="3081600"/>
            <a:ext cx="15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41"/>
          <p:cNvSpPr/>
          <p:nvPr/>
        </p:nvSpPr>
        <p:spPr>
          <a:xfrm>
            <a:off x="236880" y="1969200"/>
            <a:ext cx="342072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sngStrike">
                <a:solidFill>
                  <a:schemeClr val="dk1"/>
                </a:solidFill>
                <a:latin typeface="Calibri"/>
              </a:rPr>
              <a:t>R2 , NH: - , M:16, TS:80 &lt;&lt;DEAD&gt;&gt;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NH:R2 , M:1,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H1, NH:R2, M:2,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Box 42"/>
          <p:cNvSpPr/>
          <p:nvPr/>
        </p:nvSpPr>
        <p:spPr>
          <a:xfrm>
            <a:off x="7128720" y="1082520"/>
            <a:ext cx="361548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RT(r4):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sngStrike">
                <a:solidFill>
                  <a:schemeClr val="dk1"/>
                </a:solidFill>
                <a:latin typeface="Calibri"/>
              </a:rPr>
              <a:t>R2 , NH: R1 , M:16, TS:80 &lt;&lt;DEAD&gt;&gt;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H1 , M:1,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Box 43"/>
          <p:cNvSpPr/>
          <p:nvPr/>
        </p:nvSpPr>
        <p:spPr>
          <a:xfrm>
            <a:off x="8686800" y="4800600"/>
            <a:ext cx="342900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RT(r3):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sngStrike">
                <a:solidFill>
                  <a:schemeClr val="dk1"/>
                </a:solidFill>
                <a:latin typeface="Calibri"/>
              </a:rPr>
              <a:t>R2 , NH: - , M:16, TS:80 &lt;&lt;DEAD&gt;&gt;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- , M:0,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R4 , M:1, TS:80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Oval 1"/>
          <p:cNvSpPr/>
          <p:nvPr/>
        </p:nvSpPr>
        <p:spPr>
          <a:xfrm>
            <a:off x="101484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5" name="Oval 2"/>
          <p:cNvSpPr/>
          <p:nvPr/>
        </p:nvSpPr>
        <p:spPr>
          <a:xfrm>
            <a:off x="8237160" y="372348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DV Protocol – Update 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Box 4"/>
          <p:cNvSpPr/>
          <p:nvPr/>
        </p:nvSpPr>
        <p:spPr>
          <a:xfrm>
            <a:off x="1889640" y="33303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Box 5"/>
          <p:cNvSpPr/>
          <p:nvPr/>
        </p:nvSpPr>
        <p:spPr>
          <a:xfrm>
            <a:off x="9073800" y="336816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Box 6"/>
          <p:cNvSpPr/>
          <p:nvPr/>
        </p:nvSpPr>
        <p:spPr>
          <a:xfrm>
            <a:off x="1014840" y="932760"/>
            <a:ext cx="138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T=100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80" name="Straight Arrow Connector 7"/>
          <p:cNvCxnSpPr>
            <a:stCxn id="381" idx="6"/>
            <a:endCxn id="375" idx="1"/>
          </p:cNvCxnSpPr>
          <p:nvPr/>
        </p:nvCxnSpPr>
        <p:spPr>
          <a:xfrm>
            <a:off x="6816240" y="2196720"/>
            <a:ext cx="172908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382" name="Straight Arrow Connector 8"/>
          <p:cNvCxnSpPr>
            <a:stCxn id="381" idx="2"/>
            <a:endCxn id="374" idx="7"/>
          </p:cNvCxnSpPr>
          <p:nvPr/>
        </p:nvCxnSpPr>
        <p:spPr>
          <a:xfrm flipH="1">
            <a:off x="2809800" y="2196720"/>
            <a:ext cx="1904040" cy="168480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383" name="Rectangle 9"/>
          <p:cNvSpPr/>
          <p:nvPr/>
        </p:nvSpPr>
        <p:spPr>
          <a:xfrm>
            <a:off x="10859760" y="4006440"/>
            <a:ext cx="1136160" cy="51300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84" name="Straight Arrow Connector 10"/>
          <p:cNvCxnSpPr>
            <a:stCxn id="375" idx="6"/>
            <a:endCxn id="383" idx="1"/>
          </p:cNvCxnSpPr>
          <p:nvPr/>
        </p:nvCxnSpPr>
        <p:spPr>
          <a:xfrm>
            <a:off x="10339920" y="4262760"/>
            <a:ext cx="52020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385" name="TextBox 11"/>
          <p:cNvSpPr/>
          <p:nvPr/>
        </p:nvSpPr>
        <p:spPr>
          <a:xfrm>
            <a:off x="11073600" y="3696840"/>
            <a:ext cx="83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host1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Oval 12"/>
          <p:cNvSpPr/>
          <p:nvPr/>
        </p:nvSpPr>
        <p:spPr>
          <a:xfrm>
            <a:off x="4713480" y="1657440"/>
            <a:ext cx="2102760" cy="1078560"/>
          </a:xfrm>
          <a:prstGeom prst="ellipse">
            <a:avLst/>
          </a:prstGeom>
          <a:solidFill>
            <a:schemeClr val="bg1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6" name="TextBox 13"/>
          <p:cNvSpPr/>
          <p:nvPr/>
        </p:nvSpPr>
        <p:spPr>
          <a:xfrm>
            <a:off x="5550120" y="1302120"/>
            <a:ext cx="429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Box 14"/>
          <p:cNvSpPr/>
          <p:nvPr/>
        </p:nvSpPr>
        <p:spPr>
          <a:xfrm>
            <a:off x="7128720" y="1082520"/>
            <a:ext cx="3125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RT(r4):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- , M:0, TS: 100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 - , M:0, TS: 100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H1 , M:1, TS: 100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Box 15"/>
          <p:cNvSpPr/>
          <p:nvPr/>
        </p:nvSpPr>
        <p:spPr>
          <a:xfrm>
            <a:off x="9073800" y="4692240"/>
            <a:ext cx="317808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RT(r3):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TS:100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 , NH: - , M:0, TS:100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R1 , NH: R4 , M:1, TS:100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16"/>
          <p:cNvSpPr/>
          <p:nvPr/>
        </p:nvSpPr>
        <p:spPr>
          <a:xfrm>
            <a:off x="236880" y="1969200"/>
            <a:ext cx="251892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R4 , NH: - , M:0, TS:100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R3 , NH:R2 , M:1, TS:100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H1, NH:R2, M:2, TS:100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90" name="Straight Arrow Connector 18"/>
          <p:cNvCxnSpPr/>
          <p:nvPr/>
        </p:nvCxnSpPr>
        <p:spPr>
          <a:xfrm flipV="1">
            <a:off x="2809800" y="3013560"/>
            <a:ext cx="661320" cy="58824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391" name="Straight Arrow Connector 19"/>
          <p:cNvCxnSpPr/>
          <p:nvPr/>
        </p:nvCxnSpPr>
        <p:spPr>
          <a:xfrm flipH="1" flipV="1">
            <a:off x="7856280" y="3013560"/>
            <a:ext cx="689040" cy="58824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392" name="TextBox 20"/>
          <p:cNvSpPr/>
          <p:nvPr/>
        </p:nvSpPr>
        <p:spPr>
          <a:xfrm rot="19037400">
            <a:off x="2666520" y="2645280"/>
            <a:ext cx="15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21"/>
          <p:cNvSpPr/>
          <p:nvPr/>
        </p:nvSpPr>
        <p:spPr>
          <a:xfrm rot="2440200">
            <a:off x="7762680" y="3081600"/>
            <a:ext cx="151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RT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DV Protocol – Loop prevention 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Box 2"/>
          <p:cNvSpPr/>
          <p:nvPr/>
        </p:nvSpPr>
        <p:spPr>
          <a:xfrm>
            <a:off x="223920" y="1175760"/>
            <a:ext cx="107204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 this part we implemented split horizon with poison reverse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Basically when sending the update the router checks if the entry was advertised by the target update receiver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If it’s true it does not send the update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Also introduces a small infinity to prevent some loop cases that vanilla split horizon don’t account for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DV Protocol – Others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Box 2"/>
          <p:cNvSpPr/>
          <p:nvPr/>
        </p:nvSpPr>
        <p:spPr>
          <a:xfrm>
            <a:off x="149400" y="1222200"/>
            <a:ext cx="99180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We implement seq numbers incase old messages are delayed to avoid getting outdated updates (if(seq &lt; curr_seq) drop())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Garbage collector also deletes routes whose TS are expired (60s) which triggers update process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itle 1"/>
          <p:cNvSpPr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US" sz="3800" spc="-1" strike="noStrike">
                <a:solidFill>
                  <a:srgbClr val="0070c0"/>
                </a:solidFill>
                <a:latin typeface="Calibri Light"/>
              </a:rPr>
              <a:t>How to run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</a:pP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2"/>
          <p:cNvSpPr/>
          <p:nvPr/>
        </p:nvSpPr>
        <p:spPr>
          <a:xfrm>
            <a:off x="0" y="830520"/>
            <a:ext cx="1219176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cd Project-2025-2026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protoc -I=messages/. --python_out=./messages/ messages/dv.proto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./build..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./deploy..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docker cp router.py routerN:/ (N = 1,2,...5)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docker cp messages/dv_pb2.py routerN:/ (N = 1,2,...5)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docker exec -it router1 python3 router.py r1 5000 5001 192.168.1.3:5000 192.168.1.11:5000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docker exec -it router2 python3 router.py r2 5000 5001 192.168.1.2:5000 192.168.1.19:5000 192.168.1.35:5000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docker exec -it router3 python3 router.py r3 5000 5001 192.168.1.10:5000 192.168.1.27:5000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docker exec -it router4 python3 router.py r4 5000 5001 192.168.1.26:5000 192.168.1.34:5000 192.168.1.43:5000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docker exec -it router5 python3 router.py r5 5000 5001 192.168.1.18:5000 192.168.1.42:5000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1800"/>
            </a:br>
            <a:br>
              <a:rPr sz="1800"/>
            </a:b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457200" y="5943600"/>
            <a:ext cx="10972800" cy="82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NOTE: on </a:t>
            </a:r>
            <a:r>
              <a:rPr b="1" i="1" lang="en-US" sz="2200" spc="-1" strike="noStrike">
                <a:solidFill>
                  <a:srgbClr val="000000"/>
                </a:solidFill>
                <a:latin typeface="Arial"/>
              </a:rPr>
              <a:t>Dockerfile_router, protobuf version should be: protobuf==5.29.3</a:t>
            </a:r>
            <a:endParaRPr b="1" lang="en-US" sz="22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Application>LibreOffice/24.2.7.2$Linux_X86_64 LibreOffice_project/420$Build-2</Application>
  <AppVersion>15.0000</AppVersion>
  <Words>2647</Words>
  <Paragraphs>365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2025-12-15T14:27:13Z</dcterms:created>
  <dc:creator>GRAPSOPOULOS VASILEIOS</dc:creator>
  <dc:description/>
  <dc:language>en-US</dc:language>
  <cp:lastModifiedBy/>
  <dcterms:modified xsi:type="dcterms:W3CDTF">2025-12-18T19:56:39Z</dcterms:modified>
  <cp:revision>19</cp:revision>
  <dc:subject/>
  <dc:title>Using Google Protocol Buffers for developing a RIP-like routing protocol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24</vt:i4>
  </property>
</Properties>
</file>